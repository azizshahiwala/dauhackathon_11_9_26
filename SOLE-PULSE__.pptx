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Fraunces SemiBold"/>
      <p:regular r:id="rId201314"/>
    </p:embeddedFont>
    <p:embeddedFont>
      <p:font typeface="Manrope"/>
      <p:regular r:id="rId201315"/>
    </p:embeddedFont>
    <p:embeddedFont>
      <p:font typeface="Manrope Medium"/>
      <p:regular r:id="rId201316"/>
    </p:embeddedFont>
    <p:embeddedFont>
      <p:font typeface="Manrope SemiBold"/>
      <p:regular r:id="rId201317"/>
    </p:embeddedFont>
    <p:embeddedFont>
      <p:font typeface="Manrop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E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235152"/>
            <a:ext cx="828019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9" kern="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HACKOUT’26 · RENEWABLE ENERGY INTELLIGENCE · TEAM EX PROJECTIANS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31789" y="4497090"/>
            <a:ext cx="7670608" cy="77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200" spc="-155" kern="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SOLE PULSE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431789" y="5446514"/>
            <a:ext cx="767060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AI-Powered Predictive Maintenance for Solar &amp; Wind Assets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31789" y="5898158"/>
            <a:ext cx="7670608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Detect early. Act before failure. Protect energy and revenue.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Team Ex Projectians · GLS University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Jayesh Vatwani Mukesh Kumar · Aziz Juzar Shahiwala · Wadhwani Vivek Mahesh Kumar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876678" cy="484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spc="118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8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HE 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8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8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ROBLEM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609585" y="1315938"/>
            <a:ext cx="1609189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29780"/>
            <a:ext cx="4876678" cy="179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550" spc="-81" kern="0" dirty="0">
                <a:solidFill>
                  <a:srgbClr val="8F2F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Renewable assets can fail before we notice</a:t>
            </a:r>
            <a:endParaRPr lang="en-US" sz="4550" dirty="0"/>
          </a:p>
        </p:txBody>
      </p:sp>
      <p:sp>
        <p:nvSpPr>
          <p:cNvPr id="5" name="Shape 3"/>
          <p:cNvSpPr/>
          <p:nvPr/>
        </p:nvSpPr>
        <p:spPr>
          <a:xfrm>
            <a:off x="609585" y="3763665"/>
            <a:ext cx="1609189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23816"/>
            <a:ext cx="4876678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abnormal sensor changes can appear long before a serious failure.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4845844"/>
            <a:ext cx="4876678" cy="201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inspection is slow and expensive across continuously operating solar panels and wind turbines.</a:t>
            </a:r>
            <a:endParaRPr lang="en-US" sz="1550" dirty="0"/>
          </a:p>
          <a:p>
            <a:pPr algn="l" marL="314960" indent="-31496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detection means downtime, lower generation, and revenue loss.</a:t>
            </a:r>
            <a:endParaRPr lang="en-US" sz="1550" dirty="0"/>
          </a:p>
          <a:p>
            <a:pPr algn="l" marL="314960" indent="-314960">
              <a:lnSpc>
                <a:spcPct val="114000"/>
              </a:lnSpc>
              <a:buSzPct val="100000"/>
              <a:buChar char="•"/>
            </a:pPr>
            <a:r>
              <a:rPr lang="en-US" sz="15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real challenge is knowing which asset needs attention first.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95848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0" y="0"/>
                </a:moveTo>
                <a:lnTo>
                  <a:pt x="6070452" y="0"/>
                </a:lnTo>
                <a:arcTo hR="25396" wR="25395" stAng="16200000" swAng="5400000"/>
                <a:lnTo>
                  <a:pt x="6095848" y="6832604"/>
                </a:lnTo>
                <a:arcTo hR="25396" wR="25395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228600"/>
            <a:ext cx="5867253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8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WARNING WINDOW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24442" y="484981"/>
            <a:ext cx="563865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50" spc="-64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From signal to downtime</a:t>
            </a:r>
            <a:endParaRPr lang="en-US" sz="3550" dirty="0"/>
          </a:p>
        </p:txBody>
      </p:sp>
      <p:sp>
        <p:nvSpPr>
          <p:cNvPr id="11" name="Text 9"/>
          <p:cNvSpPr/>
          <p:nvPr/>
        </p:nvSpPr>
        <p:spPr>
          <a:xfrm>
            <a:off x="6324442" y="1143397"/>
            <a:ext cx="693919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24442" y="1420118"/>
            <a:ext cx="899098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Normal</a:t>
            </a:r>
            <a:endParaRPr lang="en-US" sz="13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4442" y="1974155"/>
            <a:ext cx="89909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Stable readings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728" y="1143397"/>
            <a:ext cx="726958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80728" y="1420118"/>
            <a:ext cx="670504" cy="62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Abnormal</a:t>
            </a:r>
            <a:endParaRPr lang="en-US" sz="13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728" y="2182019"/>
            <a:ext cx="67050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Small deviations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420" y="1143397"/>
            <a:ext cx="723981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08420" y="1420118"/>
            <a:ext cx="670603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Degradation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08420" y="1974155"/>
            <a:ext cx="67060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Health declines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36212" y="1143397"/>
            <a:ext cx="730033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936212" y="1420118"/>
            <a:ext cx="67050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Failure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6212" y="1766292"/>
            <a:ext cx="67050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Critical event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3904" y="1143397"/>
            <a:ext cx="726263" cy="1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063904" y="1420118"/>
            <a:ext cx="89919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Downtime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3904" y="1766292"/>
            <a:ext cx="8991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Lost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4442" y="2700635"/>
            <a:ext cx="5638659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Detect early. Prioritize the asset that needs attention first.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6079973" y="0"/>
            <a:ext cx="31749" cy="68580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45784" y="1143397"/>
            <a:ext cx="12700" cy="1385094"/>
          </a:xfrm>
          <a:prstGeom prst="rect">
            <a:avLst/>
          </a:prstGeom>
          <a:solidFill>
            <a:srgbClr val="F4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8573476" y="1143397"/>
            <a:ext cx="12700" cy="1385094"/>
          </a:xfrm>
          <a:prstGeom prst="rect">
            <a:avLst/>
          </a:prstGeom>
          <a:solidFill>
            <a:srgbClr val="F4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9701267" y="1143397"/>
            <a:ext cx="12700" cy="1385094"/>
          </a:xfrm>
          <a:prstGeom prst="rect">
            <a:avLst/>
          </a:prstGeom>
          <a:solidFill>
            <a:srgbClr val="F4C2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28960" y="1143397"/>
            <a:ext cx="12700" cy="1385094"/>
          </a:xfrm>
          <a:prstGeom prst="rect">
            <a:avLst/>
          </a:prstGeom>
          <a:solidFill>
            <a:srgbClr val="F4C2A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2539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08000"/>
            <a:ext cx="401310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HE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31789" y="1228725"/>
            <a:ext cx="1324140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431789" y="2051050"/>
            <a:ext cx="4013100" cy="243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600" spc="-83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Renewable assets can fail before we notice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31789" y="5696347"/>
            <a:ext cx="4013100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The real problem: detecting the warning signs early enough and knowing which asset needs attention first.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10065" y="508000"/>
            <a:ext cx="6248244" cy="249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abnormal sensor changes can appear before serious failure.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inspection is slow and expensive across continuously operating solar panels and wind turbines.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detection means downtime, lower generation, and revenue loss.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20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real problem: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detecting the warning signs early enough and knowing which asset needs attention first.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065" y="3232745"/>
            <a:ext cx="2061813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9" name="Shape 7"/>
          <p:cNvSpPr/>
          <p:nvPr/>
        </p:nvSpPr>
        <p:spPr>
          <a:xfrm>
            <a:off x="5410065" y="3499445"/>
            <a:ext cx="355591" cy="355600"/>
          </a:xfrm>
          <a:prstGeom prst="ellipse">
            <a:avLst/>
          </a:prstGeom>
          <a:solidFill>
            <a:srgbClr val="F26B38"/>
          </a:solidFill>
          <a:ln/>
        </p:spPr>
      </p:sp>
      <p:sp>
        <p:nvSpPr>
          <p:cNvPr id="10" name="Text 8"/>
          <p:cNvSpPr/>
          <p:nvPr/>
        </p:nvSpPr>
        <p:spPr>
          <a:xfrm>
            <a:off x="5479714" y="3575645"/>
            <a:ext cx="8258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065" y="3976886"/>
            <a:ext cx="1981150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Normal operation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543611" y="3499445"/>
            <a:ext cx="355591" cy="355600"/>
          </a:xfrm>
          <a:prstGeom prst="ellipse">
            <a:avLst/>
          </a:prstGeom>
          <a:solidFill>
            <a:srgbClr val="F26B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96494" y="3575645"/>
            <a:ext cx="8593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611" y="3976886"/>
            <a:ext cx="198115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Abnormal signals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77158" y="3499445"/>
            <a:ext cx="355591" cy="355600"/>
          </a:xfrm>
          <a:prstGeom prst="ellipse">
            <a:avLst/>
          </a:prstGeom>
          <a:solidFill>
            <a:srgbClr val="F26B38"/>
          </a:solidFill>
          <a:ln/>
        </p:spPr>
      </p:sp>
      <p:sp>
        <p:nvSpPr>
          <p:cNvPr id="16" name="Text 14"/>
          <p:cNvSpPr/>
          <p:nvPr/>
        </p:nvSpPr>
        <p:spPr>
          <a:xfrm>
            <a:off x="9731528" y="3575645"/>
            <a:ext cx="85633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77158" y="3976886"/>
            <a:ext cx="198115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Degradation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10065" y="4746823"/>
            <a:ext cx="355591" cy="355600"/>
          </a:xfrm>
          <a:prstGeom prst="ellipse">
            <a:avLst/>
          </a:prstGeom>
          <a:solidFill>
            <a:srgbClr val="F26B38"/>
          </a:solidFill>
          <a:ln/>
        </p:spPr>
      </p:sp>
      <p:sp>
        <p:nvSpPr>
          <p:cNvPr id="19" name="Text 17"/>
          <p:cNvSpPr/>
          <p:nvPr/>
        </p:nvSpPr>
        <p:spPr>
          <a:xfrm>
            <a:off x="5461359" y="4823023"/>
            <a:ext cx="86248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0065" y="5224264"/>
            <a:ext cx="304792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Failure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10385" y="4746823"/>
            <a:ext cx="355591" cy="355600"/>
          </a:xfrm>
          <a:prstGeom prst="ellipse">
            <a:avLst/>
          </a:prstGeom>
          <a:solidFill>
            <a:srgbClr val="F26B38"/>
          </a:solidFill>
          <a:ln/>
        </p:spPr>
      </p:sp>
      <p:sp>
        <p:nvSpPr>
          <p:cNvPr id="22" name="Text 20"/>
          <p:cNvSpPr/>
          <p:nvPr/>
        </p:nvSpPr>
        <p:spPr>
          <a:xfrm>
            <a:off x="8663664" y="4823023"/>
            <a:ext cx="8586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10385" y="5224264"/>
            <a:ext cx="304792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Downtime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2539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33400"/>
            <a:ext cx="3962301" cy="45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112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1850" spc="112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HE </a:t>
            </a:r>
            <a:pPr algn="l" indent="0" marL="0">
              <a:lnSpc>
                <a:spcPct val="104000"/>
              </a:lnSpc>
              <a:buNone/>
            </a:pPr>
            <a:r>
              <a:rPr lang="en-US" sz="1850" spc="112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</a:t>
            </a:r>
            <a:pPr algn="l" indent="0" marL="0">
              <a:lnSpc>
                <a:spcPct val="104000"/>
              </a:lnSpc>
              <a:buNone/>
            </a:pPr>
            <a:r>
              <a:rPr lang="en-US" sz="1850" spc="112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ROMISE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533387" y="1195586"/>
            <a:ext cx="1307472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940520"/>
            <a:ext cx="3962301" cy="1776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350" spc="-61" kern="0" dirty="0">
                <a:solidFill>
                  <a:srgbClr val="3A201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SOLE PULSE turns raw readings into a maintenance decision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533387" y="3936504"/>
            <a:ext cx="1307472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5422106"/>
            <a:ext cx="3962301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 monitoring moves the operator from “something failed” to “this asset needs attention now.”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841854" y="1143000"/>
            <a:ext cx="81149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41854" y="1408708"/>
            <a:ext cx="1841355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4" y="1541562"/>
            <a:ext cx="184135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Sense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5841854" y="2045692"/>
            <a:ext cx="184135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 sensor and environmental data.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07170" y="1143000"/>
            <a:ext cx="84274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07170" y="1408708"/>
            <a:ext cx="1841355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4" name="Text 12"/>
          <p:cNvSpPr/>
          <p:nvPr/>
        </p:nvSpPr>
        <p:spPr>
          <a:xfrm>
            <a:off x="9207170" y="1541562"/>
            <a:ext cx="1841454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Detect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9207170" y="2045692"/>
            <a:ext cx="1841454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 healthy behavior and flag unusual patterns.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41854" y="4329609"/>
            <a:ext cx="83996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41854" y="4595316"/>
            <a:ext cx="1841355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8" name="Text 16"/>
          <p:cNvSpPr/>
          <p:nvPr/>
        </p:nvSpPr>
        <p:spPr>
          <a:xfrm>
            <a:off x="5841854" y="4728170"/>
            <a:ext cx="184135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Prioritize</a:t>
            </a:r>
            <a:endParaRPr lang="en-US" sz="2350" dirty="0"/>
          </a:p>
        </p:txBody>
      </p:sp>
      <p:sp>
        <p:nvSpPr>
          <p:cNvPr id="19" name="Text 17"/>
          <p:cNvSpPr/>
          <p:nvPr/>
        </p:nvSpPr>
        <p:spPr>
          <a:xfrm>
            <a:off x="5841854" y="5232301"/>
            <a:ext cx="1841355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Translate severity into risk and maintenance priority.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07170" y="4329609"/>
            <a:ext cx="84571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07170" y="4595316"/>
            <a:ext cx="1841355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2" name="Text 20"/>
          <p:cNvSpPr/>
          <p:nvPr/>
        </p:nvSpPr>
        <p:spPr>
          <a:xfrm>
            <a:off x="9207170" y="4728170"/>
            <a:ext cx="1841454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3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Act</a:t>
            </a:r>
            <a:endParaRPr lang="en-US" sz="2350" dirty="0"/>
          </a:p>
        </p:txBody>
      </p:sp>
      <p:sp>
        <p:nvSpPr>
          <p:cNvPr id="23" name="Text 21"/>
          <p:cNvSpPr/>
          <p:nvPr/>
        </p:nvSpPr>
        <p:spPr>
          <a:xfrm>
            <a:off x="9207170" y="5232301"/>
            <a:ext cx="1841454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 what the team should inspect next.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25395" y="0"/>
                </a:moveTo>
                <a:lnTo>
                  <a:pt x="6095848" y="0"/>
                </a:lnTo>
                <a:lnTo>
                  <a:pt x="609584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482600"/>
            <a:ext cx="5029074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HE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YSTEM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3387" y="1203325"/>
            <a:ext cx="165959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890712"/>
            <a:ext cx="5029074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system connects data, AI, and action in one loop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33387" y="3564731"/>
            <a:ext cx="165959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4871839"/>
            <a:ext cx="5029074" cy="1503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Sensor simulation supports development and testing.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Flask bridges frontend, database, and AI.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 stores historical readings, predictions, alerts, and maintenance history.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2237" y="1630363"/>
          <a:ext cx="9143771" cy="914400"/>
        </p:xfrm>
        <a:graphic>
          <a:graphicData uri="http://schemas.openxmlformats.org/drawingml/2006/table">
            <a:tbl>
              <a:tblPr/>
              <a:tblGrid>
                <a:gridCol w="1796243"/>
                <a:gridCol w="1743412"/>
                <a:gridCol w="1743412"/>
              </a:tblGrid>
              <a:tr h="1577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Sensor / IoT telemetry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 external weather context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Data processing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Flask backend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6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PyTorch AI engine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Anomaly detection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Risk + maintenance engine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PostgreSQL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React + TypeScript dashboard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20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Operator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57200"/>
            <a:ext cx="11124922" cy="47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ULTI-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IGNAL 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</a:t>
            </a:r>
            <a:pPr algn="l" indent="0" marL="0">
              <a:lnSpc>
                <a:spcPct val="104000"/>
              </a:lnSpc>
              <a:buNone/>
            </a:pPr>
            <a:r>
              <a:rPr lang="en-US" sz="1950" spc="117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EALTH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533387" y="1152624"/>
            <a:ext cx="3671200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1557834"/>
            <a:ext cx="11124922" cy="46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8F2F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Asset health emerges from six signals read together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33387" y="2205732"/>
            <a:ext cx="11658308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 learns how multiple sensor values behave together, not one threshold at a 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33387" y="2691507"/>
            <a:ext cx="3671200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7" name="Shape 5"/>
          <p:cNvSpPr/>
          <p:nvPr/>
        </p:nvSpPr>
        <p:spPr>
          <a:xfrm>
            <a:off x="533387" y="2946797"/>
            <a:ext cx="3632109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3200797"/>
            <a:ext cx="493601" cy="4936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7380" y="3802261"/>
            <a:ext cx="31241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Temperature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87380" y="4237137"/>
            <a:ext cx="373370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Abnormal heating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7892" y="2946797"/>
            <a:ext cx="3555911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3200797"/>
            <a:ext cx="493601" cy="493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1886" y="3802261"/>
            <a:ext cx="30479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Voltage + current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71886" y="4237137"/>
            <a:ext cx="3657509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Electrical behavior and generation performance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6199" y="2946797"/>
            <a:ext cx="3632109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3200797"/>
            <a:ext cx="493601" cy="493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0193" y="3802261"/>
            <a:ext cx="31241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Irradiance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80193" y="4237137"/>
            <a:ext cx="373370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Available solar energy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33387" y="4985445"/>
            <a:ext cx="3632109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0" y="5239445"/>
            <a:ext cx="493601" cy="4936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7380" y="5840909"/>
            <a:ext cx="31241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Soiling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787380" y="6275784"/>
            <a:ext cx="373370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Cleanliness and performance impact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892" y="4985445"/>
            <a:ext cx="3555911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5239445"/>
            <a:ext cx="493601" cy="49361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1886" y="5840909"/>
            <a:ext cx="30479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Power output</a:t>
            </a:r>
            <a:endParaRPr lang="en-US" sz="1850" dirty="0"/>
          </a:p>
        </p:txBody>
      </p:sp>
      <p:sp>
        <p:nvSpPr>
          <p:cNvPr id="26" name="Text 19"/>
          <p:cNvSpPr/>
          <p:nvPr/>
        </p:nvSpPr>
        <p:spPr>
          <a:xfrm>
            <a:off x="4571886" y="6275784"/>
            <a:ext cx="3657509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Actual generation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026199" y="4985445"/>
            <a:ext cx="3632109" cy="1886248"/>
          </a:xfrm>
          <a:prstGeom prst="roundRect">
            <a:avLst>
              <a:gd name="adj" fmla="val 1570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193" y="5239445"/>
            <a:ext cx="493601" cy="4936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80193" y="5840909"/>
            <a:ext cx="31241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Asset record</a:t>
            </a:r>
            <a:endParaRPr lang="en-US" sz="1850" dirty="0"/>
          </a:p>
        </p:txBody>
      </p:sp>
      <p:sp>
        <p:nvSpPr>
          <p:cNvPr id="30" name="Text 22"/>
          <p:cNvSpPr/>
          <p:nvPr/>
        </p:nvSpPr>
        <p:spPr>
          <a:xfrm>
            <a:off x="8280193" y="6275784"/>
            <a:ext cx="3124122" cy="34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P001 · 42.5 °C · 220.4 V · 8.7 A · 850 W/m² · 12% soiling · 1,850 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25395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33400"/>
            <a:ext cx="3555911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ATA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DAPTER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3387" y="1254125"/>
            <a:ext cx="117343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941513"/>
            <a:ext cx="3555911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3A201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Environmental context and equipment health stay separate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33387" y="4566444"/>
            <a:ext cx="117343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5203031"/>
            <a:ext cx="355591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Open-Meteo / external environmental data provides context. The asset sensor layer provides equipment health.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5879" y="533400"/>
            <a:ext cx="3416215" cy="81270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825879" y="533400"/>
            <a:ext cx="3416215" cy="8128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469595" y="787400"/>
            <a:ext cx="7382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3A20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074" y="1425575"/>
            <a:ext cx="3009825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Open-Meteo / external environmental data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074" y="2185988"/>
            <a:ext cx="3009825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7C554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Temperature · solar radiation / irradiance · cloud conditions · wind conditions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2094" y="533400"/>
            <a:ext cx="3416215" cy="81270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2094" y="533400"/>
            <a:ext cx="3416215" cy="8128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9860708" y="787400"/>
            <a:ext cx="7885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3A20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45289" y="1425575"/>
            <a:ext cx="300982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Sensor or IoT telemetry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45289" y="1877219"/>
            <a:ext cx="3619409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7C554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Voltage · current · soiling · power 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5879" y="2741216"/>
            <a:ext cx="3416215" cy="81270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25879" y="2741216"/>
            <a:ext cx="3416215" cy="8128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775" y="2995216"/>
            <a:ext cx="7840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3A20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074" y="3633391"/>
            <a:ext cx="3009825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Standardized sensor record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242094" y="2741216"/>
            <a:ext cx="3416215" cy="1723033"/>
          </a:xfrm>
          <a:prstGeom prst="rect">
            <a:avLst/>
          </a:prstGeom>
          <a:solidFill>
            <a:srgbClr val="F6B44B"/>
          </a:solidFill>
          <a:ln/>
        </p:spPr>
      </p:sp>
      <p:sp>
        <p:nvSpPr>
          <p:cNvPr id="23" name="Shape 21"/>
          <p:cNvSpPr/>
          <p:nvPr/>
        </p:nvSpPr>
        <p:spPr>
          <a:xfrm>
            <a:off x="8242094" y="2741216"/>
            <a:ext cx="3416215" cy="81270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242094" y="2741216"/>
            <a:ext cx="3416215" cy="8128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8327" y="2995216"/>
            <a:ext cx="7932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3A20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45289" y="3633391"/>
            <a:ext cx="300982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SOLE PULSE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45289" y="4085034"/>
            <a:ext cx="3619409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One consistent input for detection and 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5879" y="4692848"/>
            <a:ext cx="6832429" cy="1068784"/>
          </a:xfrm>
          <a:prstGeom prst="roundRect">
            <a:avLst>
              <a:gd name="adj" fmla="val 2852"/>
            </a:avLst>
          </a:prstGeom>
          <a:solidFill>
            <a:srgbClr val="FCDBC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074" y="4946848"/>
            <a:ext cx="642603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Message to judges: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API provides environmental context; the asset sensors provide equipment health.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custGeom>
            <a:avLst/>
            <a:gdLst/>
            <a:ahLst/>
            <a:cxnLst/>
            <a:rect l="l" t="t" r="r" b="b"/>
            <a:pathLst>
              <a:path w="4063898" h="6858000">
                <a:moveTo>
                  <a:pt x="25395" y="0"/>
                </a:moveTo>
                <a:lnTo>
                  <a:pt x="4063898" y="0"/>
                </a:lnTo>
                <a:lnTo>
                  <a:pt x="406389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08000"/>
            <a:ext cx="3174921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ODEL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3387" y="1228725"/>
            <a:ext cx="1047724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654175"/>
            <a:ext cx="3174921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autoencoder learns what healthy operation looks like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3387" y="4684713"/>
            <a:ext cx="3174921" cy="203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 mainly on normal operating data.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original readings with the model’s reconstruction.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large reconstruction error signals unusual behavior.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489" y="2275483"/>
            <a:ext cx="2412940" cy="2307034"/>
          </a:xfrm>
          <a:prstGeom prst="rect">
            <a:avLst/>
          </a:prstGeom>
          <a:solidFill>
            <a:srgbClr val="FFF1E8"/>
          </a:solidFill>
          <a:ln/>
        </p:spPr>
      </p:sp>
      <p:sp>
        <p:nvSpPr>
          <p:cNvPr id="8" name="Text 6"/>
          <p:cNvSpPr/>
          <p:nvPr/>
        </p:nvSpPr>
        <p:spPr>
          <a:xfrm>
            <a:off x="4622684" y="2478683"/>
            <a:ext cx="2006550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Six sensor features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22684" y="3239095"/>
            <a:ext cx="261613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Original sensor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32429" y="2275483"/>
            <a:ext cx="2412940" cy="2307034"/>
          </a:xfrm>
          <a:prstGeom prst="rect">
            <a:avLst/>
          </a:prstGeom>
          <a:solidFill>
            <a:srgbClr val="F6B44B"/>
          </a:solidFill>
          <a:ln/>
        </p:spPr>
      </p:sp>
      <p:sp>
        <p:nvSpPr>
          <p:cNvPr id="11" name="Text 9"/>
          <p:cNvSpPr/>
          <p:nvPr/>
        </p:nvSpPr>
        <p:spPr>
          <a:xfrm>
            <a:off x="7035624" y="2478683"/>
            <a:ext cx="200655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Encoder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35624" y="2930327"/>
            <a:ext cx="261613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6 → 4 →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35624" y="3442891"/>
            <a:ext cx="2006550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Compressed representation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35624" y="4203303"/>
            <a:ext cx="261613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Healthy operating pattern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45369" y="2275483"/>
            <a:ext cx="2412940" cy="2307034"/>
          </a:xfrm>
          <a:custGeom>
            <a:avLst/>
            <a:gdLst/>
            <a:ahLst/>
            <a:cxnLst/>
            <a:rect l="l" t="t" r="r" b="b"/>
            <a:pathLst>
              <a:path w="2412940" h="2307034">
                <a:moveTo>
                  <a:pt x="0" y="0"/>
                </a:moveTo>
                <a:lnTo>
                  <a:pt x="2387544" y="0"/>
                </a:lnTo>
                <a:arcTo hR="25396" wR="25395" stAng="16200000" swAng="5400000"/>
                <a:lnTo>
                  <a:pt x="2412940" y="2281638"/>
                </a:lnTo>
                <a:arcTo hR="25396" wR="25395" stAng="0" swAng="5400000"/>
                <a:lnTo>
                  <a:pt x="0" y="2307034"/>
                </a:lnTo>
                <a:lnTo>
                  <a:pt x="0" y="0"/>
                </a:lnTo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16" name="Text 14"/>
          <p:cNvSpPr/>
          <p:nvPr/>
        </p:nvSpPr>
        <p:spPr>
          <a:xfrm>
            <a:off x="9448564" y="2478683"/>
            <a:ext cx="200655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Decoder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448564" y="2930327"/>
            <a:ext cx="261613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2 → 4 → 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48564" y="3442891"/>
            <a:ext cx="2006550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Reconstructed sensor data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448564" y="4203303"/>
            <a:ext cx="261613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Compare with the original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25395" y="0"/>
                </a:moveTo>
                <a:lnTo>
                  <a:pt x="6095848" y="0"/>
                </a:lnTo>
                <a:lnTo>
                  <a:pt x="6095848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457200"/>
            <a:ext cx="5029074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NTERPRETATION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AYER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3387" y="1177925"/>
            <a:ext cx="165959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865312"/>
            <a:ext cx="5029074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An anomaly is a reason to inspect, not a claim of failure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3387" y="3488531"/>
            <a:ext cx="563865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 is an application-level score from 0–100.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29234" y="152400"/>
            <a:ext cx="8258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234" y="436860"/>
            <a:ext cx="1968451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9" name="Text 7"/>
          <p:cNvSpPr/>
          <p:nvPr/>
        </p:nvSpPr>
        <p:spPr>
          <a:xfrm>
            <a:off x="6629234" y="577751"/>
            <a:ext cx="1968451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Reconstruction error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50081" y="152400"/>
            <a:ext cx="8593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50081" y="436860"/>
            <a:ext cx="1338427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2" name="Text 10"/>
          <p:cNvSpPr/>
          <p:nvPr/>
        </p:nvSpPr>
        <p:spPr>
          <a:xfrm>
            <a:off x="8750081" y="577751"/>
            <a:ext cx="1338527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Anomaly detection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240905" y="152400"/>
            <a:ext cx="85633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40905" y="436860"/>
            <a:ext cx="1417304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0905" y="577751"/>
            <a:ext cx="141740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Risk score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40905" y="1029395"/>
            <a:ext cx="195079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7C554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0–100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234" y="1357809"/>
            <a:ext cx="86248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234" y="1642269"/>
            <a:ext cx="1181070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234" y="1783159"/>
            <a:ext cx="118107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Risk level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62701" y="1357809"/>
            <a:ext cx="8586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62701" y="1642269"/>
            <a:ext cx="1574661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2" name="Text 20"/>
          <p:cNvSpPr/>
          <p:nvPr/>
        </p:nvSpPr>
        <p:spPr>
          <a:xfrm>
            <a:off x="7962701" y="1783159"/>
            <a:ext cx="1574761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Maintenance priority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89858" y="1357809"/>
            <a:ext cx="86635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6B3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89858" y="1642269"/>
            <a:ext cx="1968451" cy="1905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5" name="Text 23"/>
          <p:cNvSpPr/>
          <p:nvPr/>
        </p:nvSpPr>
        <p:spPr>
          <a:xfrm>
            <a:off x="9689858" y="1783159"/>
            <a:ext cx="1968451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Recommended action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629234" y="2603897"/>
            <a:ext cx="1676358" cy="2058789"/>
          </a:xfrm>
          <a:custGeom>
            <a:avLst/>
            <a:gdLst/>
            <a:ahLst/>
            <a:cxnLst/>
            <a:rect l="l" t="t" r="r" b="b"/>
            <a:pathLst>
              <a:path w="1676358" h="2058789">
                <a:moveTo>
                  <a:pt x="25399" y="0"/>
                </a:moveTo>
                <a:lnTo>
                  <a:pt x="1676358" y="0"/>
                </a:lnTo>
                <a:lnTo>
                  <a:pt x="1676358" y="2058789"/>
                </a:lnTo>
                <a:lnTo>
                  <a:pt x="25399" y="2058789"/>
                </a:lnTo>
                <a:arcTo hR="25400" wR="25399" stAng="5400000" swAng="5400000"/>
                <a:lnTo>
                  <a:pt x="0" y="25400"/>
                </a:lnTo>
                <a:arcTo hR="25400" wR="25399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7828" y="2832497"/>
            <a:ext cx="121917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Normal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57828" y="3284141"/>
            <a:ext cx="121917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 risk → routine monitoring.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5592" y="2603897"/>
            <a:ext cx="1676358" cy="2058789"/>
          </a:xfrm>
          <a:prstGeom prst="rect">
            <a:avLst/>
          </a:prstGeom>
          <a:solidFill>
            <a:srgbClr val="FFF1E8"/>
          </a:solidFill>
          <a:ln/>
        </p:spPr>
      </p:sp>
      <p:sp>
        <p:nvSpPr>
          <p:cNvPr id="30" name="Text 28"/>
          <p:cNvSpPr/>
          <p:nvPr/>
        </p:nvSpPr>
        <p:spPr>
          <a:xfrm>
            <a:off x="8534187" y="2832497"/>
            <a:ext cx="121917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Anomaly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534187" y="3284141"/>
            <a:ext cx="121917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risk → schedule inspection.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981950" y="2603897"/>
            <a:ext cx="1676358" cy="2058789"/>
          </a:xfrm>
          <a:custGeom>
            <a:avLst/>
            <a:gdLst/>
            <a:ahLst/>
            <a:cxnLst/>
            <a:rect l="l" t="t" r="r" b="b"/>
            <a:pathLst>
              <a:path w="1676358" h="2058789">
                <a:moveTo>
                  <a:pt x="0" y="0"/>
                </a:moveTo>
                <a:lnTo>
                  <a:pt x="1650959" y="0"/>
                </a:lnTo>
                <a:arcTo hR="25400" wR="25399" stAng="16200000" swAng="5400000"/>
                <a:lnTo>
                  <a:pt x="1676358" y="2033389"/>
                </a:lnTo>
                <a:arcTo hR="25400" wR="25399" stAng="0" swAng="5400000"/>
                <a:lnTo>
                  <a:pt x="0" y="2058789"/>
                </a:lnTo>
                <a:lnTo>
                  <a:pt x="0" y="0"/>
                </a:lnTo>
                <a:close/>
              </a:path>
            </a:pathLst>
          </a:custGeom>
          <a:solidFill>
            <a:srgbClr val="F6B44B"/>
          </a:solidFill>
          <a:ln/>
        </p:spPr>
      </p:sp>
      <p:sp>
        <p:nvSpPr>
          <p:cNvPr id="33" name="Text 31"/>
          <p:cNvSpPr/>
          <p:nvPr/>
        </p:nvSpPr>
        <p:spPr>
          <a:xfrm>
            <a:off x="10210545" y="2832497"/>
            <a:ext cx="1219170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Severe anomaly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0210545" y="3592909"/>
            <a:ext cx="121917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→ urgent inspection.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234" y="4840486"/>
            <a:ext cx="5029074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10" kern="0" dirty="0">
                <a:solidFill>
                  <a:srgbClr val="7C554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Fault type and maintenance recommendation are interpretation and business logic around the anomaly result, not direct neural-network outputs.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99242" y="2603897"/>
            <a:ext cx="12700" cy="2058789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37" name="Shape 35"/>
          <p:cNvSpPr/>
          <p:nvPr/>
        </p:nvSpPr>
        <p:spPr>
          <a:xfrm>
            <a:off x="9975600" y="2603897"/>
            <a:ext cx="12700" cy="2058789"/>
          </a:xfrm>
          <a:prstGeom prst="rect">
            <a:avLst/>
          </a:prstGeom>
          <a:solidFill>
            <a:srgbClr val="F26B3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60703" cy="6858000"/>
          </a:xfrm>
          <a:custGeom>
            <a:avLst/>
            <a:gdLst/>
            <a:ahLst/>
            <a:cxnLst/>
            <a:rect l="l" t="t" r="r" b="b"/>
            <a:pathLst>
              <a:path w="3860703" h="6858000">
                <a:moveTo>
                  <a:pt x="25395" y="0"/>
                </a:moveTo>
                <a:lnTo>
                  <a:pt x="3860703" y="0"/>
                </a:lnTo>
                <a:lnTo>
                  <a:pt x="3860703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482600"/>
            <a:ext cx="3022524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PERATOR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V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7987" y="1203325"/>
            <a:ext cx="99742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890712"/>
            <a:ext cx="3022524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dashboard makes the signal actionable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7987" y="4515644"/>
            <a:ext cx="997421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5805488"/>
            <a:ext cx="3022524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spc="17" kern="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Application-level estimates, not guaranteed predictions.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8691" y="330200"/>
            <a:ext cx="3657509" cy="3098800"/>
          </a:xfrm>
          <a:prstGeom prst="rect">
            <a:avLst/>
          </a:prstGeom>
          <a:solidFill>
            <a:srgbClr val="F6B44B"/>
          </a:solidFill>
          <a:ln/>
        </p:spPr>
      </p:sp>
      <p:sp>
        <p:nvSpPr>
          <p:cNvPr id="9" name="Text 7"/>
          <p:cNvSpPr/>
          <p:nvPr/>
        </p:nvSpPr>
        <p:spPr>
          <a:xfrm>
            <a:off x="4470288" y="431800"/>
            <a:ext cx="406389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9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ASSET P999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70288" y="693738"/>
            <a:ext cx="3454314" cy="47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65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ANOMALY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70288" y="1366044"/>
            <a:ext cx="3454314" cy="157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Possible issue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combined abnormal sensor pattern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Action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immediately inspect and schedule urgent maintenance.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6199" y="330200"/>
            <a:ext cx="3657509" cy="3098800"/>
          </a:xfrm>
          <a:custGeom>
            <a:avLst/>
            <a:gdLst/>
            <a:ahLst/>
            <a:cxnLst/>
            <a:rect l="l" t="t" r="r" b="b"/>
            <a:pathLst>
              <a:path w="3657509" h="3098800">
                <a:moveTo>
                  <a:pt x="0" y="0"/>
                </a:moveTo>
                <a:lnTo>
                  <a:pt x="3632113" y="0"/>
                </a:lnTo>
                <a:arcTo hR="25396" wR="25395" stAng="16200000" swAng="5400000"/>
                <a:lnTo>
                  <a:pt x="3657509" y="3098800"/>
                </a:lnTo>
                <a:lnTo>
                  <a:pt x="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13" name="Text 11"/>
          <p:cNvSpPr/>
          <p:nvPr/>
        </p:nvSpPr>
        <p:spPr>
          <a:xfrm>
            <a:off x="8127797" y="431800"/>
            <a:ext cx="406389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9" kern="0" dirty="0">
                <a:solidFill>
                  <a:srgbClr val="3A201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PRIORITY SIGNALS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27797" y="792163"/>
            <a:ext cx="3454314" cy="1196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3A20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Risk</a:t>
            </a:r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CRITICAL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3A20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Maintenance</a:t>
            </a:r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URGENT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20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Failure risk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application-level 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2217539"/>
            <a:ext cx="1139796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797" y="2484239"/>
            <a:ext cx="345431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201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Reconstruction error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anomaly status · risk score · risk level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70288" y="3530600"/>
            <a:ext cx="406389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9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ESTIMATED IMPACT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70288" y="3792538"/>
            <a:ext cx="3454314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20" kern="0" dirty="0">
                <a:solidFill>
                  <a:srgbClr val="8F2F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6.62 kWh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470288" y="4586784"/>
            <a:ext cx="406389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5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estimated energy loss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70288" y="5174754"/>
            <a:ext cx="3454314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20" kern="0" dirty="0">
                <a:solidFill>
                  <a:srgbClr val="8F2F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₹52.99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470288" y="5969000"/>
            <a:ext cx="406389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15" kern="0" dirty="0">
                <a:solidFill>
                  <a:srgbClr val="3A201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estimated revenue loss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7797" y="3530600"/>
            <a:ext cx="406389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69" kern="0" dirty="0">
                <a:solidFill>
                  <a:srgbClr val="C94B2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THE TEAM SEES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27797" y="3890963"/>
            <a:ext cx="3454314" cy="196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Asset ID · reconstruction error · anomaly status · risk score · risk level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Failure risk · possible fault type · maintenance priority · recommended action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Estimated energy loss · estimated revenue loss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19849" y="330200"/>
            <a:ext cx="12700" cy="30988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8691" y="3422650"/>
            <a:ext cx="3657509" cy="127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6" name="Shape 24"/>
          <p:cNvSpPr/>
          <p:nvPr/>
        </p:nvSpPr>
        <p:spPr>
          <a:xfrm>
            <a:off x="8019849" y="3429000"/>
            <a:ext cx="12700" cy="3098800"/>
          </a:xfrm>
          <a:prstGeom prst="rect">
            <a:avLst/>
          </a:prstGeom>
          <a:solidFill>
            <a:srgbClr val="F26B38"/>
          </a:solidFill>
          <a:ln/>
        </p:spPr>
      </p:sp>
      <p:sp>
        <p:nvSpPr>
          <p:cNvPr id="27" name="Shape 25"/>
          <p:cNvSpPr/>
          <p:nvPr/>
        </p:nvSpPr>
        <p:spPr>
          <a:xfrm>
            <a:off x="8026199" y="3422650"/>
            <a:ext cx="3657509" cy="12700"/>
          </a:xfrm>
          <a:prstGeom prst="rect">
            <a:avLst/>
          </a:prstGeom>
          <a:solidFill>
            <a:srgbClr val="F26B3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custGeom>
            <a:avLst/>
            <a:gdLst/>
            <a:ahLst/>
            <a:cxnLst/>
            <a:rect l="l" t="t" r="r" b="b"/>
            <a:pathLst>
              <a:path w="8127797" h="6858000">
                <a:moveTo>
                  <a:pt x="25395" y="0"/>
                </a:moveTo>
                <a:lnTo>
                  <a:pt x="8127797" y="0"/>
                </a:lnTo>
                <a:lnTo>
                  <a:pt x="8127797" y="6858000"/>
                </a:lnTo>
                <a:lnTo>
                  <a:pt x="25395" y="6858000"/>
                </a:lnTo>
                <a:arcTo hR="25396" wR="25395" stAng="5400000" swAng="5400000"/>
                <a:lnTo>
                  <a:pt x="0" y="25396"/>
                </a:lnTo>
                <a:arcTo hR="25396" wR="25395" stAng="10800000" swAng="5400000"/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1236762"/>
            <a:ext cx="6603835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OLE 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</a:t>
            </a:r>
            <a:pPr algn="l" indent="0" marL="0">
              <a:lnSpc>
                <a:spcPct val="104000"/>
              </a:lnSpc>
              <a:buNone/>
            </a:pPr>
            <a:r>
              <a:rPr lang="en-US" sz="2000" spc="120" kern="0" dirty="0">
                <a:solidFill>
                  <a:srgbClr val="BF3E0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ULSE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1981" y="1957487"/>
            <a:ext cx="2179186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382937"/>
            <a:ext cx="6603835" cy="9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600" spc="-190" kern="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THANK YOU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61981" y="3506589"/>
            <a:ext cx="6603835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Predicting failures before they become downtime.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1981" y="4120158"/>
            <a:ext cx="6603835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20" kern="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Team ExProjectians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1981" y="4851598"/>
            <a:ext cx="2179186" cy="38100"/>
          </a:xfrm>
          <a:prstGeom prst="roundRect">
            <a:avLst>
              <a:gd name="adj" fmla="val 49999"/>
            </a:avLst>
          </a:prstGeom>
          <a:solidFill>
            <a:srgbClr val="F26B38"/>
          </a:solidFill>
          <a:ln/>
        </p:spPr>
      </p:sp>
      <p:sp>
        <p:nvSpPr>
          <p:cNvPr id="9" name="Text 7"/>
          <p:cNvSpPr/>
          <p:nvPr/>
        </p:nvSpPr>
        <p:spPr>
          <a:xfrm>
            <a:off x="761981" y="5118298"/>
            <a:ext cx="7213420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30" kern="0" dirty="0">
                <a:solidFill>
                  <a:srgbClr val="8F2F1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GLS University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2026-09-13T04:35:56Z</dcterms:created>
  <dcterms:modified xsi:type="dcterms:W3CDTF">2026-09-13T04:35:56Z</dcterms:modified>
</cp:coreProperties>
</file>